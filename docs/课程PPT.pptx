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微软雅黑"/>
              </a:rPr>
              <a:t>半导体领域知识图谱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4A90D9"/>
                </a:solidFill>
                <a:latin typeface="微软雅黑"/>
              </a:rPr>
              <a:t>构建、推理与大模型增强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246120"/>
            <a:ext cx="1124712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429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8D8E8"/>
                </a:solidFill>
                <a:latin typeface="微软雅黑"/>
              </a:rPr>
              <a:t>知识图谱课程作业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9776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8D8E8"/>
                </a:solidFill>
                <a:latin typeface="微软雅黑"/>
              </a:rPr>
              <a:t>小组成员：成员A  ·  成员B  ·  成员C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480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7F8C8D"/>
                </a:solidFill>
                <a:latin typeface="微软雅黑"/>
              </a:rPr>
              <a:t>2026 年 5 月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0" y="4937760"/>
            <a:ext cx="3291840" cy="34747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4974336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知识图谱构建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5376672"/>
            <a:ext cx="3291840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5413248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规则 &amp; 路径推理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5815584"/>
            <a:ext cx="3291840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585216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GraphRAG 增强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研究背景与任务目标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8E8"/>
                </a:solidFill>
                <a:latin typeface="微软雅黑"/>
              </a:rPr>
              <a:t>为什么选半导体领域？大模型有何不足？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1124712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5577840" cy="2468880"/>
          </a:xfrm>
          <a:prstGeom prst="rect">
            <a:avLst/>
          </a:prstGeom>
          <a:solidFill>
            <a:srgbClr val="16213E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577840" cy="34747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271016"/>
            <a:ext cx="539495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选题背景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微软雅黑"/>
              </a:rPr>
              <a:t>半导体是电子信息核心领域，实体关系结构清晰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微软雅黑"/>
              </a:rPr>
              <a:t>全球芯片厂商、工艺节点、材料器件知识密集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微软雅黑"/>
              </a:rPr>
              <a:t>代工关系、工艺继代、竞争格局等适合图谱表示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F39C12"/>
                </a:solidFill>
                <a:latin typeface="微软雅黑"/>
              </a:rPr>
              <a:t>工艺型号、代工关系是大模型的高频出错点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840480"/>
            <a:ext cx="5577840" cy="2560320"/>
          </a:xfrm>
          <a:prstGeom prst="rect">
            <a:avLst/>
          </a:prstGeom>
          <a:solidFill>
            <a:srgbClr val="16213E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840480"/>
            <a:ext cx="5577840" cy="34747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3877056"/>
            <a:ext cx="539495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大模型存在的不足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9768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E74C3C"/>
                </a:solidFill>
                <a:latin typeface="微软雅黑"/>
              </a:rPr>
              <a:t>❌  事实幻觉：工艺型号模糊（4nm左右）、代工厂归属错误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E74C3C"/>
                </a:solidFill>
                <a:latin typeface="微软雅黑"/>
              </a:rPr>
              <a:t>❌  缺乏证据：给出结论但无可追溯来源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E74C3C"/>
                </a:solidFill>
                <a:latin typeface="微软雅黑"/>
              </a:rPr>
              <a:t>❌  多跳推理弱：跨实体比较逻辑断层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E74C3C"/>
                </a:solidFill>
                <a:latin typeface="微软雅黑"/>
              </a:rPr>
              <a:t>❌  知识滞后：无法反映最新工艺动态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234440"/>
            <a:ext cx="5760720" cy="5166360"/>
          </a:xfrm>
          <a:prstGeom prst="rect">
            <a:avLst/>
          </a:prstGeom>
          <a:solidFill>
            <a:srgbClr val="16213E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234440"/>
            <a:ext cx="5760720" cy="34747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1271016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三大任务目标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600200"/>
            <a:ext cx="502920" cy="5029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6002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1600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A90D9"/>
                </a:solidFill>
                <a:latin typeface="微软雅黑"/>
              </a:rPr>
              <a:t>图谱构建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01168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8E8"/>
                </a:solidFill>
                <a:latin typeface="微软雅黑"/>
              </a:rPr>
              <a:t>构建半导体知识图谱
≥110实体、≥318三元组
8类实体、16类关系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200400"/>
            <a:ext cx="50292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32004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3200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7E22"/>
                </a:solidFill>
                <a:latin typeface="微软雅黑"/>
              </a:rPr>
              <a:t>知识推理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361188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8E8"/>
                </a:solidFill>
                <a:latin typeface="微软雅黑"/>
              </a:rPr>
              <a:t>实现规则推理（Horn规则）
和路径推理（BFS多跳）
补全隐含知识、发现证据链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800600"/>
            <a:ext cx="50292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4800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4800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7AE60"/>
                </a:solidFill>
                <a:latin typeface="微软雅黑"/>
              </a:rPr>
              <a:t>大模型增强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21208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8E8"/>
                </a:solidFill>
                <a:latin typeface="微软雅黑"/>
              </a:rPr>
              <a:t>GraphRAG：图谱子图检索
注入Prompt，对比有无KG
的准确性与幻觉差异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知识图谱 Schema 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8E8"/>
                </a:solidFill>
                <a:latin typeface="微软雅黑"/>
              </a:rPr>
              <a:t>8类实体 · 16类关系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1124712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2834640" cy="4114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1673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</a:rPr>
              <a:t>Company  (15个)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91639"/>
            <a:ext cx="283464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73736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微软雅黑"/>
              </a:rPr>
              <a:t>Intel / TSMC / NVIDIA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39" y="1280160"/>
            <a:ext cx="283464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79" y="131673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</a:rPr>
              <a:t>Chip  (28个)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39" y="1691639"/>
            <a:ext cx="283464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79" y="173736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微软雅黑"/>
              </a:rPr>
              <a:t>H100 / A17 Pro / 骁龙8 Gen 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59" y="1280160"/>
            <a:ext cx="283464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799" y="131673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</a:rPr>
              <a:t>ProcessNode  (10个)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59" y="1691639"/>
            <a:ext cx="283464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799" y="173736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微软雅黑"/>
              </a:rPr>
              <a:t>TSMC 3nm / Intel 4 / SMIC N+1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0" y="1280160"/>
            <a:ext cx="2834640" cy="4114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19" y="131673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</a:rPr>
              <a:t>Architecture  ( 8个)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26880" y="1691639"/>
            <a:ext cx="283464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19" y="173736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微软雅黑"/>
              </a:rPr>
              <a:t>Zen4 / Raptor Cove / Cortex-X4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840479"/>
            <a:ext cx="2834640" cy="4114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877055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</a:rPr>
              <a:t>Material  (12个)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251959"/>
            <a:ext cx="283464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4297679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微软雅黑"/>
              </a:rPr>
              <a:t>硅 / 碳化硅 / 氮化镓 / 氧化铪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39" y="3840479"/>
            <a:ext cx="2834640" cy="41148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83279" y="3877055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</a:rPr>
              <a:t>Device  (12个)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839" y="4251959"/>
            <a:ext cx="283464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83279" y="4297679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微软雅黑"/>
              </a:rPr>
              <a:t>FinFET / GAA / HBM / NPU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59" y="3840479"/>
            <a:ext cx="2834640" cy="4114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799" y="3877055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</a:rPr>
              <a:t>Application  (15个)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59" y="4251959"/>
            <a:ext cx="283464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799" y="4297679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微软雅黑"/>
              </a:rPr>
              <a:t>AI训练 / 数据中心 / 5G基站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26880" y="3840479"/>
            <a:ext cx="2834640" cy="41148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8319" y="3877055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</a:rPr>
              <a:t>Technology  (10个)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326880" y="4251959"/>
            <a:ext cx="283464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18319" y="4297679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微软雅黑"/>
              </a:rPr>
              <a:t>EUV光刻 / 原子层沉积 / 先进封装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6263640"/>
            <a:ext cx="1161288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6291072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D8E8"/>
                </a:solidFill>
                <a:latin typeface="微软雅黑"/>
              </a:rPr>
              <a:t>关系类型（16类）：designs · fabricates · uses_process · based_on_arch · used_for · uses_device · uses_material · competes_with · successor_of · enables_process · developed_by · supports_memory · uses_technology · masters_technology · manufactures_tool · requires_device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数据来源与图谱构建流程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8E8"/>
                </a:solidFill>
                <a:latin typeface="微软雅黑"/>
              </a:rPr>
              <a:t>结构化人工整理 → NetworkX 有向多重图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1124712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1920240" cy="14630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①
公开资料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834640"/>
            <a:ext cx="192024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2880360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微软雅黑"/>
              </a:rPr>
              <a:t>官网规格
行业媒体
技术白皮书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78308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A90D9"/>
                </a:solidFill>
                <a:latin typeface="微软雅黑"/>
              </a:rPr>
              <a:t>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79" y="1280160"/>
            <a:ext cx="1920240" cy="14630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97479" y="128016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②
Schema
设计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97479" y="2834640"/>
            <a:ext cx="192024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70632" y="2880360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微软雅黑"/>
              </a:rPr>
              <a:t>8类实体
16类关系
约束规则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178308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67E22"/>
                </a:solidFill>
                <a:latin typeface="微软雅黑"/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1280160"/>
            <a:ext cx="1920240" cy="1463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128016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③
人工
整理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0" y="2834640"/>
            <a:ext cx="192024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02352" y="2880360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微软雅黑"/>
              </a:rPr>
              <a:t>entities.csv
triples.csv
置信度标注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178308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7AE60"/>
                </a:solidFill>
                <a:latin typeface="微软雅黑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60919" y="1280160"/>
            <a:ext cx="1920240" cy="14630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0919" y="128016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④
build_kg
.py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60919" y="2834640"/>
            <a:ext cx="192024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34071" y="2880360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微软雅黑"/>
              </a:rPr>
              <a:t>NetworkX
MultiDiGraph
110节点/318边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59" y="178308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8E44AD"/>
                </a:solidFill>
                <a:latin typeface="微软雅黑"/>
              </a:rP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92640" y="1280160"/>
            <a:ext cx="1920240" cy="14630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0" y="128016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⑤
存储
输出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92640" y="2834640"/>
            <a:ext cx="192024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65792" y="2880360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微软雅黑"/>
              </a:rPr>
              <a:t>kg_data.json
triples.csv
HTML可视化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005072"/>
            <a:ext cx="1124712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4114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A90D9"/>
                </a:solidFill>
                <a:latin typeface="微软雅黑"/>
              </a:rPr>
              <a:t>图谱规模（满足作业要求）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617720"/>
            <a:ext cx="1920240" cy="1097280"/>
          </a:xfrm>
          <a:prstGeom prst="rect">
            <a:avLst/>
          </a:prstGeom>
          <a:solidFill>
            <a:srgbClr val="16213E"/>
          </a:solidFill>
          <a:ln w="254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466344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4A90D9"/>
                </a:solidFill>
                <a:latin typeface="微软雅黑"/>
              </a:rPr>
              <a:t>110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523036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/>
              </a:rPr>
              <a:t>个实体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97479" y="4617720"/>
            <a:ext cx="1920240" cy="1097280"/>
          </a:xfrm>
          <a:prstGeom prst="rect">
            <a:avLst/>
          </a:prstGeom>
          <a:solidFill>
            <a:srgbClr val="16213E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97479" y="466344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67E22"/>
                </a:solidFill>
                <a:latin typeface="微软雅黑"/>
              </a:rPr>
              <a:t>318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97479" y="523036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/>
              </a:rPr>
              <a:t>条三元组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0" y="4617720"/>
            <a:ext cx="1920240" cy="1097280"/>
          </a:xfrm>
          <a:prstGeom prst="rect">
            <a:avLst/>
          </a:prstGeom>
          <a:solidFill>
            <a:srgbClr val="16213E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0" y="466344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7AE60"/>
                </a:solidFill>
                <a:latin typeface="微软雅黑"/>
              </a:rPr>
              <a:t>  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523036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/>
              </a:rPr>
              <a:t>类实体类型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60919" y="4617720"/>
            <a:ext cx="1920240" cy="1097280"/>
          </a:xfrm>
          <a:prstGeom prst="rect">
            <a:avLst/>
          </a:prstGeom>
          <a:solidFill>
            <a:srgbClr val="16213E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60919" y="466344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39C12"/>
                </a:solidFill>
                <a:latin typeface="微软雅黑"/>
              </a:rPr>
              <a:t> 16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60919" y="523036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/>
              </a:rPr>
              <a:t>类关系类型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92640" y="4617720"/>
            <a:ext cx="1920240" cy="1097280"/>
          </a:xfrm>
          <a:prstGeom prst="rect">
            <a:avLst/>
          </a:prstGeom>
          <a:solidFill>
            <a:srgbClr val="16213E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92640" y="466344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8E44AD"/>
                </a:solidFill>
                <a:latin typeface="微软雅黑"/>
              </a:rPr>
              <a:t>95.5%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92640" y="523036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/>
              </a:rPr>
              <a:t>连通度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59436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  <a:latin typeface="微软雅黑"/>
              </a:rPr>
              <a:t>※ 数据来源：芯片厂商官网 / AnandTech / IEEE Spectrum / 公开技术白皮书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图谱样例与可视化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8E8"/>
                </a:solidFill>
                <a:latin typeface="微软雅黑"/>
              </a:rPr>
              <a:t>典型三元组 · 中心性分析 · 交互式HTML图谱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1124712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5577840" cy="3657600"/>
          </a:xfrm>
          <a:prstGeom prst="rect">
            <a:avLst/>
          </a:prstGeom>
          <a:solidFill>
            <a:srgbClr val="16213E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577840" cy="34747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271016"/>
            <a:ext cx="539495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典型三元组样例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91640"/>
            <a:ext cx="201168" cy="20116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8249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>(NVIDIA, designs, H100)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93392"/>
            <a:ext cx="201168" cy="20116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8424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>(TSMC, fabricates, H100)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295144"/>
            <a:ext cx="201168" cy="20116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2860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>(H100, uses_process, TSMC 4nm)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596896"/>
            <a:ext cx="201168" cy="20116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58775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>(H100, used_for, AI训练)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898648"/>
            <a:ext cx="201168" cy="20116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>(TSMC 3nm, successor_of, TSMC 4nm)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200400"/>
            <a:ext cx="201168" cy="20116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19125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>(A17 Pro, uses_process, TSMC 3nm)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502152"/>
            <a:ext cx="201168" cy="20116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9300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>(Kirin9000S, uses_process, SMIC N+1) [0.9]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803904"/>
            <a:ext cx="201168" cy="20116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79476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>(EUV光刻, enables_process, TSMC 3nm)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105656"/>
            <a:ext cx="201168" cy="20116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09651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>(ASML, manufactures_tool, EUV光刻)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407408"/>
            <a:ext cx="201168" cy="20116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39826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>(骁龙8Gen3, successor_of, 骁龙8Gen2)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1234440"/>
            <a:ext cx="5760720" cy="2194560"/>
          </a:xfrm>
          <a:prstGeom prst="rect">
            <a:avLst/>
          </a:prstGeom>
          <a:solidFill>
            <a:srgbClr val="16213E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26480" y="1234440"/>
            <a:ext cx="5760720" cy="34747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36208" y="1271016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度中心性 Top-5（越高越核心）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1783080"/>
            <a:ext cx="3496665" cy="21945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1801368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</a:rPr>
              <a:t>台积电  0.239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2075688"/>
            <a:ext cx="2691993" cy="21945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209397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</a:rPr>
              <a:t>英特尔  0.184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2368296"/>
            <a:ext cx="2545689" cy="21945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2386584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</a:rPr>
              <a:t>台积电3nm  0.174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2660904"/>
            <a:ext cx="2282342" cy="21945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5080" y="267919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</a:rPr>
              <a:t>台积电4nm  0.156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2953512"/>
            <a:ext cx="2018995" cy="21945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80" y="297180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</a:rPr>
              <a:t>骁龙8Gen3  0.138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26480" y="3657600"/>
            <a:ext cx="5760720" cy="1280160"/>
          </a:xfrm>
          <a:prstGeom prst="rect">
            <a:avLst/>
          </a:prstGeom>
          <a:solidFill>
            <a:srgbClr val="16213E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26480" y="3657600"/>
            <a:ext cx="5760720" cy="34747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36208" y="3694176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交互式可视化（pyvis）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4114800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微软雅黑"/>
              </a:rPr>
              <a:t>results/kg_full.html  —  浏览器可拖拽、缩放、悬浮查看实体信息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8D8E8"/>
                </a:solidFill>
                <a:latin typeface="微软雅黑"/>
              </a:rPr>
              <a:t>results/kg_nvidia_subgraph.html  —  NVIDIA 子图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8D8E8"/>
                </a:solidFill>
                <a:latin typeface="微软雅黑"/>
              </a:rPr>
              <a:t>results/kg_tsmc_subgraph.html    —  TSMC 子图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26480" y="5120640"/>
            <a:ext cx="5760720" cy="1325880"/>
          </a:xfrm>
          <a:prstGeom prst="rect">
            <a:avLst/>
          </a:prstGeom>
          <a:solidFill>
            <a:srgbClr val="16213E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26480" y="5120640"/>
            <a:ext cx="5760720" cy="34747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36208" y="5157216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图谱质量说明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5577840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27AE60"/>
                </a:solidFill>
                <a:latin typeface="微软雅黑"/>
              </a:rPr>
              <a:t>最大连通分量：105/110（95.5%）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F39C12"/>
                </a:solidFill>
                <a:latin typeface="微软雅黑"/>
              </a:rPr>
              <a:t>孤立节点 5 个（部分材料实体待补充关系）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8D8E8"/>
                </a:solidFill>
                <a:latin typeface="微软雅黑"/>
              </a:rPr>
              <a:t>置信度字段显式标注争议信息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知识推理方法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8E8"/>
                </a:solidFill>
                <a:latin typeface="微软雅黑"/>
              </a:rPr>
              <a:t>规则推理（Horn规则）+ 路径推理（双向BFS）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1124712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5577840" cy="5074920"/>
          </a:xfrm>
          <a:prstGeom prst="rect">
            <a:avLst/>
          </a:prstGeom>
          <a:solidFill>
            <a:srgbClr val="16213E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577840" cy="34747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271016"/>
            <a:ext cx="539495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方法一：规则推理（Horn 规则）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6420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7E22"/>
                </a:solidFill>
                <a:latin typeface="微软雅黑"/>
              </a:rPr>
              <a:t>规则形式：(A, rel1, B) ∧ (B, rel2, C)  ⟹  (A, new_rel, C)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94560"/>
            <a:ext cx="384048" cy="31089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194560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R1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212848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D8E8"/>
                </a:solidFill>
                <a:latin typeface="微软雅黑"/>
              </a:rPr>
              <a:t>designs + uses_process → company_uses_process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2212848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微软雅黑"/>
              </a:rPr>
              <a:t>0.95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596896"/>
            <a:ext cx="384048" cy="31089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596896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R2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615184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D8E8"/>
                </a:solidFill>
                <a:latin typeface="微软雅黑"/>
              </a:rPr>
              <a:t>fabricates + uses_process → fab_masters_process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2615184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微软雅黑"/>
              </a:rPr>
              <a:t>0.90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999232"/>
            <a:ext cx="384048" cy="31089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999232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R3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017520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D8E8"/>
                </a:solidFill>
                <a:latin typeface="微软雅黑"/>
              </a:rPr>
              <a:t>successor_of + competes_with → inherits_competition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301752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微软雅黑"/>
              </a:rPr>
              <a:t>0.85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401568"/>
            <a:ext cx="384048" cy="31089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401568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R5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419856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D8E8"/>
                </a:solidFill>
                <a:latin typeface="微软雅黑"/>
              </a:rPr>
              <a:t>uses_device + uses_material → process_requires_material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3419856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微软雅黑"/>
              </a:rPr>
              <a:t>0.90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803904"/>
            <a:ext cx="384048" cy="31089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3803904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R6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3822191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D8E8"/>
                </a:solidFill>
                <a:latin typeface="微软雅黑"/>
              </a:rPr>
              <a:t>used_for + requires_device → chip_contains_device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2040" y="3822191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微软雅黑"/>
              </a:rPr>
              <a:t>0.75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279392"/>
            <a:ext cx="1124712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434340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39C12"/>
                </a:solidFill>
                <a:latin typeface="微软雅黑"/>
              </a:rPr>
              <a:t>推理结果：7条规则共推导出 104 条新三元组
其中置信度 ≥ 0.7 者写回图谱（inferred=True）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51206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A90D9"/>
                </a:solidFill>
                <a:latin typeface="微软雅黑"/>
              </a:rPr>
              <a:t>推理样例：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440680"/>
            <a:ext cx="5577840" cy="731520"/>
          </a:xfrm>
          <a:prstGeom prst="rect">
            <a:avLst/>
          </a:prstGeom>
          <a:solidFill>
            <a:srgbClr val="16213E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5486400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>已知：(TSMC, fabricates, H100) ∧ (H100, uses_process, TSMC 4nm)
推导：(TSMC, fab_masters_process, TSMC 4nm)  [置信度: 0.90]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1234440"/>
            <a:ext cx="5760720" cy="5074920"/>
          </a:xfrm>
          <a:prstGeom prst="rect">
            <a:avLst/>
          </a:prstGeom>
          <a:solidFill>
            <a:srgbClr val="16213E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26480" y="1234440"/>
            <a:ext cx="5760720" cy="34747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36208" y="1271016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方法二：路径推理（双向 BFS）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1664208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8E8"/>
                </a:solidFill>
                <a:latin typeface="微软雅黑"/>
              </a:rPr>
              <a:t>在有向图上同时走正向边与反向边（inv_前缀标注）
最大跳数 4，最多返回 5 条路径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23317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A90D9"/>
                </a:solidFill>
                <a:latin typeface="微软雅黑"/>
              </a:rPr>
              <a:t>示例：AMD → EUV光刻  (3跳路径)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6480" y="2697480"/>
            <a:ext cx="5760720" cy="960120"/>
          </a:xfrm>
          <a:prstGeom prst="rect">
            <a:avLst/>
          </a:prstGeom>
          <a:solidFill>
            <a:srgbClr val="16213E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63640" y="2724912"/>
            <a:ext cx="55778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微软雅黑"/>
              </a:rPr>
              <a:t>路径1：[AMD] --designs--&gt; [Ryzen9 7950X]
        --uses_process--&gt; [TSMC 4nm]
        --inv_enables_process--&gt; [EUV光刻]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3794760"/>
            <a:ext cx="1124712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385876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AE60"/>
                </a:solidFill>
                <a:latin typeface="微软雅黑"/>
              </a:rPr>
              <a:t>路径推理准确率评估（7个测试用例）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4251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7AE60"/>
                </a:solidFill>
                <a:latin typeface="微软雅黑"/>
              </a:rPr>
              <a:t>✓  AMD → EUV光刻（3跳）  →  5条路径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45445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7AE60"/>
                </a:solidFill>
                <a:latin typeface="微软雅黑"/>
              </a:rPr>
              <a:t>✓  苹果 → 台积电  →  5条路径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483717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7AE60"/>
                </a:solidFill>
                <a:latin typeface="微软雅黑"/>
              </a:rPr>
              <a:t>✓  H100 → 硅材料  →  5条路径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512978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7AE60"/>
                </a:solidFill>
                <a:latin typeface="微软雅黑"/>
              </a:rPr>
              <a:t>✓  Intel → AI训练应用  →  5条路径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54223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7AE60"/>
                </a:solidFill>
                <a:latin typeface="微软雅黑"/>
              </a:rPr>
              <a:t>✓  麒麟9000S → SMIC工艺  →  5条路径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57150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7AE60"/>
                </a:solidFill>
                <a:latin typeface="微软雅黑"/>
              </a:rPr>
              <a:t>✓  NVIDIA → EUV技术  →  5条路径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600760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74C3C"/>
                </a:solidFill>
                <a:latin typeface="微软雅黑"/>
              </a:rPr>
              <a:t>✗  Intel ≠ AMD直接路径  →  误找竞争路径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64008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7AE60"/>
                </a:solidFill>
                <a:latin typeface="微软雅黑"/>
              </a:rPr>
              <a:t>准确率：85.7%（6/7）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大模型增强方法：GraphRAG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8E8"/>
                </a:solidFill>
                <a:latin typeface="微软雅黑"/>
              </a:rPr>
              <a:t>图谱检索 → Prompt注入 → 对比问答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1124712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1691640" cy="10972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280160"/>
            <a:ext cx="1691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①
自然语言
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1664208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4A90D9"/>
                </a:solidFill>
                <a:latin typeface="微软雅黑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2240279" y="1280160"/>
            <a:ext cx="1691640" cy="10972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40279" y="1280160"/>
            <a:ext cx="1691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②
实体
检索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664208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67E22"/>
                </a:solidFill>
                <a:latin typeface="微软雅黑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280160"/>
            <a:ext cx="1691640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1280160"/>
            <a:ext cx="1691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③
子图
扩展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79" y="1664208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7AE60"/>
                </a:solidFill>
                <a:latin typeface="微软雅黑"/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199" y="1280160"/>
            <a:ext cx="1691640" cy="10972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199" y="1280160"/>
            <a:ext cx="1691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④
三元组
转文本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1664208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E44AD"/>
                </a:solidFill>
                <a:latin typeface="微软雅黑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280160"/>
            <a:ext cx="1691640" cy="10972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1280160"/>
            <a:ext cx="1691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⑤
Prompt
注入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9800" y="1664208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39C12"/>
                </a:solidFill>
                <a:latin typeface="微软雅黑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04120" y="1280160"/>
            <a:ext cx="1691640" cy="10972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04120" y="1280160"/>
            <a:ext cx="1691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⑥
LLM
生成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514600"/>
            <a:ext cx="1124712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2670048"/>
            <a:ext cx="5394960" cy="3246120"/>
          </a:xfrm>
          <a:prstGeom prst="rect">
            <a:avLst/>
          </a:prstGeom>
          <a:solidFill>
            <a:srgbClr val="16213E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2670048"/>
            <a:ext cx="5394960" cy="34747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2706624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Prompt 设计约束（kg_augmented_prompt.txt）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154680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4A90D9"/>
                </a:solidFill>
                <a:latin typeface="微软雅黑"/>
              </a:rPr>
              <a:t>① 优先使用KG事实，用【KG事实】标记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F39C12"/>
                </a:solidFill>
                <a:latin typeface="微软雅黑"/>
              </a:rPr>
              <a:t>② 无图谱证据时说明：未找到直接证据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27AE60"/>
                </a:solidFill>
                <a:latin typeface="微软雅黑"/>
              </a:rPr>
              <a:t>③ 输出：直接答案 → KG三元组证据 → 置信度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E67E22"/>
                </a:solidFill>
                <a:latin typeface="微软雅黑"/>
              </a:rPr>
              <a:t>④ 多跳推理须显式列出推理链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5212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A90D9"/>
                </a:solidFill>
                <a:latin typeface="微软雅黑"/>
              </a:rPr>
              <a:t>{kg_context}  +  {question}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5166360"/>
            <a:ext cx="5303520" cy="457200"/>
          </a:xfrm>
          <a:prstGeom prst="rect">
            <a:avLst/>
          </a:prstGeom>
          <a:noFill/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43600" y="2670048"/>
            <a:ext cx="5943600" cy="1600200"/>
          </a:xfrm>
          <a:prstGeom prst="rect">
            <a:avLst/>
          </a:prstGeom>
          <a:solidFill>
            <a:srgbClr val="16213E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0" y="2670048"/>
            <a:ext cx="5943600" cy="34747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53328" y="2706624"/>
            <a:ext cx="5760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幻觉检测（evaluate.py）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0" y="3127248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给定LLM声明 → 在图谱中查询对应三元组
存在 → 事实正确  ✅     不存在 → 可能幻觉  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0" y="4407408"/>
            <a:ext cx="5943600" cy="1508760"/>
          </a:xfrm>
          <a:prstGeom prst="rect">
            <a:avLst/>
          </a:prstGeom>
          <a:solidFill>
            <a:srgbClr val="16213E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43600" y="4407408"/>
            <a:ext cx="5943600" cy="34747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53328" y="4443984"/>
            <a:ext cx="5760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四维对比指标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0760" y="4663440"/>
            <a:ext cx="56692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微软雅黑"/>
              </a:rPr>
              <a:t>准确性 — 工艺型号是否精确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微软雅黑"/>
              </a:rPr>
              <a:t>可追溯性 — 是否附有KG三元组列表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微软雅黑"/>
              </a:rPr>
              <a:t>幻觉抑制 — 错误声明是否被检出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微软雅黑"/>
              </a:rPr>
              <a:t>多跳推理 — 是否给出完整推理链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30936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F8C8D"/>
                </a:solidFill>
                <a:latin typeface="微软雅黑"/>
              </a:rPr>
              <a:t>支持 DeepSeek API（真实问答）和规则模拟模式（离线演示）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实验结果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8E8"/>
                </a:solidFill>
                <a:latin typeface="微软雅黑"/>
              </a:rPr>
              <a:t>检索评估 · 推理准确率 · 幻觉检测 · 对比分析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1124712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2148840" cy="9601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234440"/>
            <a:ext cx="2148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/>
              </a:rPr>
              <a:t>59.0%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5564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</a:rPr>
              <a:t>检索宏平均
精确率</a:t>
            </a:r>
          </a:p>
        </p:txBody>
      </p:sp>
      <p:sp>
        <p:nvSpPr>
          <p:cNvPr id="9" name="Rectangle 8"/>
          <p:cNvSpPr/>
          <p:nvPr/>
        </p:nvSpPr>
        <p:spPr>
          <a:xfrm>
            <a:off x="2633472" y="1234440"/>
            <a:ext cx="2148840" cy="9601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33472" y="1234440"/>
            <a:ext cx="2148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/>
              </a:rPr>
              <a:t>65.8%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33472" y="175564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</a:rPr>
              <a:t>检索宏平均
召回率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92624" y="1234440"/>
            <a:ext cx="2148840" cy="9601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92624" y="1234440"/>
            <a:ext cx="2148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/>
              </a:rPr>
              <a:t>85.7%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92624" y="175564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</a:rPr>
              <a:t>路径推理
准确率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51776" y="1234440"/>
            <a:ext cx="2148840" cy="9601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1776" y="1234440"/>
            <a:ext cx="2148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51776" y="175564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</a:rPr>
              <a:t>幻觉检测
准确率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710928" y="1234440"/>
            <a:ext cx="2148840" cy="9601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10928" y="1234440"/>
            <a:ext cx="2148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/>
              </a:rPr>
              <a:t>104条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10928" y="175564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</a:rPr>
              <a:t>规则推理
新三元组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331720"/>
            <a:ext cx="1124712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2468880"/>
            <a:ext cx="6858000" cy="4023360"/>
          </a:xfrm>
          <a:prstGeom prst="rect">
            <a:avLst/>
          </a:prstGeom>
          <a:solidFill>
            <a:srgbClr val="16213E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2468880"/>
            <a:ext cx="6858000" cy="34747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2505456"/>
            <a:ext cx="6675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逐题检索 Precision / Recall / F1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28346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90D9"/>
                </a:solidFill>
                <a:latin typeface="微软雅黑"/>
              </a:rPr>
              <a:t>问题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28346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90D9"/>
                </a:solidFill>
                <a:latin typeface="微软雅黑"/>
              </a:rPr>
              <a:t>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57800" y="28346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90D9"/>
                </a:solidFill>
                <a:latin typeface="微软雅黑"/>
              </a:rPr>
              <a:t>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283464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90D9"/>
                </a:solidFill>
                <a:latin typeface="微软雅黑"/>
              </a:rPr>
              <a:t>F1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3200400"/>
            <a:ext cx="4160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D8E8"/>
                </a:solidFill>
                <a:latin typeface="微软雅黑"/>
              </a:rPr>
              <a:t>Q1  H100工艺（代工厂）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3200400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微软雅黑"/>
              </a:rPr>
              <a:t>0.60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57800" y="3200400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微软雅黑"/>
              </a:rPr>
              <a:t>0.75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3200400"/>
            <a:ext cx="594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微软雅黑"/>
              </a:rPr>
              <a:t>0.667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3547872"/>
            <a:ext cx="4160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D8E8"/>
                </a:solidFill>
                <a:latin typeface="微软雅黑"/>
              </a:rPr>
              <a:t>Q2  台积电工艺（一对多）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3547872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微软雅黑"/>
              </a:rPr>
              <a:t>0.80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57800" y="3547872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微软雅黑"/>
              </a:rPr>
              <a:t>1.00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3547872"/>
            <a:ext cx="594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微软雅黑"/>
              </a:rPr>
              <a:t>0.889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3895344"/>
            <a:ext cx="4160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D8E8"/>
                </a:solidFill>
                <a:latin typeface="微软雅黑"/>
              </a:rPr>
              <a:t>Q3  A17 Pro vs 骁龙（比较）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3440" y="3895344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39C12"/>
                </a:solidFill>
                <a:latin typeface="微软雅黑"/>
              </a:rPr>
              <a:t>0.40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57800" y="3895344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39C12"/>
                </a:solidFill>
                <a:latin typeface="微软雅黑"/>
              </a:rPr>
              <a:t>0.67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3895344"/>
            <a:ext cx="594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39C12"/>
                </a:solidFill>
                <a:latin typeface="微软雅黑"/>
              </a:rPr>
              <a:t>0.500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4242816"/>
            <a:ext cx="4160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D8E8"/>
                </a:solidFill>
                <a:latin typeface="微软雅黑"/>
              </a:rPr>
              <a:t>Q4  麒麟9000S（争议）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63440" y="4242816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微软雅黑"/>
              </a:rPr>
              <a:t>1.00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57800" y="4242816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微软雅黑"/>
              </a:rPr>
              <a:t>0.67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0" y="4242816"/>
            <a:ext cx="594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微软雅黑"/>
              </a:rPr>
              <a:t>0.800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" y="4590288"/>
            <a:ext cx="4160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D8E8"/>
                </a:solidFill>
                <a:latin typeface="微软雅黑"/>
              </a:rPr>
              <a:t>Q5  EUV供应商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4590288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39C12"/>
                </a:solidFill>
                <a:latin typeface="微软雅黑"/>
              </a:rPr>
              <a:t>0.40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57800" y="4590288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39C12"/>
                </a:solidFill>
                <a:latin typeface="微软雅黑"/>
              </a:rPr>
              <a:t>0.50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0" y="4590288"/>
            <a:ext cx="594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39C12"/>
                </a:solidFill>
                <a:latin typeface="微软雅黑"/>
              </a:rPr>
              <a:t>0.444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" y="4937760"/>
            <a:ext cx="4160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D8E8"/>
                </a:solidFill>
                <a:latin typeface="微软雅黑"/>
              </a:rPr>
              <a:t>Q6  AI训练芯片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63440" y="4937760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微软雅黑"/>
              </a:rPr>
              <a:t>0.60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57800" y="4937760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微软雅黑"/>
              </a:rPr>
              <a:t>0.75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43600" y="4937760"/>
            <a:ext cx="594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微软雅黑"/>
              </a:rPr>
              <a:t>0.667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5285232"/>
            <a:ext cx="4160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D8E8"/>
                </a:solidFill>
                <a:latin typeface="微软雅黑"/>
              </a:rPr>
              <a:t>Q9  骁龙代际演进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63440" y="5285232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微软雅黑"/>
              </a:rPr>
              <a:t>1.00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57800" y="5285232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微软雅黑"/>
              </a:rPr>
              <a:t>1.00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43600" y="5285232"/>
            <a:ext cx="594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微软雅黑"/>
              </a:rPr>
              <a:t>1.000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5632704"/>
            <a:ext cx="4160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D8E8"/>
                </a:solidFill>
                <a:latin typeface="微软雅黑"/>
              </a:rPr>
              <a:t>Q10 3nm材料（最低分）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63440" y="5632704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74C3C"/>
                </a:solidFill>
                <a:latin typeface="微软雅黑"/>
              </a:rPr>
              <a:t>0.20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57800" y="5632704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74C3C"/>
                </a:solidFill>
                <a:latin typeface="微软雅黑"/>
              </a:rPr>
              <a:t>0.25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43600" y="5632704"/>
            <a:ext cx="594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74C3C"/>
                </a:solidFill>
                <a:latin typeface="微软雅黑"/>
              </a:rPr>
              <a:t>0.222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406640" y="2468880"/>
            <a:ext cx="4480560" cy="4023360"/>
          </a:xfrm>
          <a:prstGeom prst="rect">
            <a:avLst/>
          </a:prstGeom>
          <a:solidFill>
            <a:srgbClr val="16213E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406640" y="2468880"/>
            <a:ext cx="4480560" cy="34747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516367" y="2505456"/>
            <a:ext cx="4297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幻觉检测明细（8/8）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98079" y="2834640"/>
            <a:ext cx="4251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7AE60"/>
                </a:solidFill>
                <a:latin typeface="微软雅黑"/>
              </a:rPr>
              <a:t>✅ 正确  H100 采用 TSMC 4nm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98079" y="3236976"/>
            <a:ext cx="4251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74C3C"/>
                </a:solidFill>
                <a:latin typeface="微软雅黑"/>
              </a:rPr>
              <a:t>❌ 幻觉！  M3 Ultra 用 Samsung 3nm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498079" y="3639312"/>
            <a:ext cx="4251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7AE60"/>
                </a:solidFill>
                <a:latin typeface="微软雅黑"/>
              </a:rPr>
              <a:t>✅ 正确  Ryzen 7950X 基于 Zen4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498079" y="4041648"/>
            <a:ext cx="4251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74C3C"/>
                </a:solidFill>
                <a:latin typeface="微软雅黑"/>
              </a:rPr>
              <a:t>❌ 幻觉！  Intel 设计了骁龙8Gen3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98079" y="4443984"/>
            <a:ext cx="4251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7AE60"/>
                </a:solidFill>
                <a:latin typeface="微软雅黑"/>
              </a:rPr>
              <a:t>✅ 正确  TSMC 代工 A17 Pro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98079" y="4846320"/>
            <a:ext cx="4251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7AE60"/>
                </a:solidFill>
                <a:latin typeface="微软雅黑"/>
              </a:rPr>
              <a:t>✅ 正确  麒麟9000S 是麒麟9000继代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98079" y="5248656"/>
            <a:ext cx="4251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7AE60"/>
                </a:solidFill>
                <a:latin typeface="微软雅黑"/>
              </a:rPr>
              <a:t>✅ 正确  ASML 是EUV唯一供应商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498079" y="5650992"/>
            <a:ext cx="4251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74C3C"/>
                </a:solidFill>
                <a:latin typeface="微软雅黑"/>
              </a:rPr>
              <a:t>❌ 幻觉！  Ryzen 由 Intel 代工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案例对比演示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8E8"/>
                </a:solidFill>
                <a:latin typeface="微软雅黑"/>
              </a:rPr>
              <a:t>无KG基线 vs GraphRAG增强回答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1124712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11612880" cy="3200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16736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</a:rPr>
              <a:t>Q1：苹果A17 Pro 和骁龙8 Gen 3，谁的制造工艺更先进？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00200"/>
            <a:ext cx="5577840" cy="1280160"/>
          </a:xfrm>
          <a:prstGeom prst="rect">
            <a:avLst/>
          </a:prstGeom>
          <a:solidFill>
            <a:srgbClr val="16213E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62763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74C3C"/>
                </a:solidFill>
                <a:latin typeface="微软雅黑"/>
              </a:rPr>
              <a:t>无KG基线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901952"/>
            <a:ext cx="5349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D8E8"/>
                </a:solidFill>
                <a:latin typeface="微软雅黑"/>
              </a:rPr>
              <a:t>A17 Pro可能采用3nm工艺，骁龙8 Gen 3也在4nm左右。（模糊，无确切证据）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600200"/>
            <a:ext cx="5852160" cy="1280160"/>
          </a:xfrm>
          <a:prstGeom prst="rect">
            <a:avLst/>
          </a:prstGeom>
          <a:solidFill>
            <a:srgbClr val="16213E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1627631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微软雅黑"/>
              </a:rPr>
              <a:t>KG增强回答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901952"/>
            <a:ext cx="5577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D8E8"/>
                </a:solidFill>
                <a:latin typeface="微软雅黑"/>
              </a:rPr>
              <a:t>【KG事实】A17 Pro→TSMC 3nm ✅  /  骁龙8Gen3→TSMC 4nm(N4P) ✅
(TSMC 3nm, successor_of, TSMC 4nm) ✅
→ A17 Pro（3nm）更先进；置信度：高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072384"/>
            <a:ext cx="11612880" cy="3200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10896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</a:rPr>
              <a:t>Q5：EUV光刻技术的唯一供应商是哪家公司？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392424"/>
            <a:ext cx="5577840" cy="1280160"/>
          </a:xfrm>
          <a:prstGeom prst="rect">
            <a:avLst/>
          </a:prstGeom>
          <a:solidFill>
            <a:srgbClr val="16213E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341985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74C3C"/>
                </a:solidFill>
                <a:latin typeface="微软雅黑"/>
              </a:rPr>
              <a:t>无KG基线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3694176"/>
            <a:ext cx="5349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D8E8"/>
                </a:solidFill>
                <a:latin typeface="微软雅黑"/>
              </a:rPr>
              <a:t>ASML是EUV光刻机的供应商，对先进制程至关重要。（正确但无证据）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3392424"/>
            <a:ext cx="5852160" cy="1280160"/>
          </a:xfrm>
          <a:prstGeom prst="rect">
            <a:avLst/>
          </a:prstGeom>
          <a:solidFill>
            <a:srgbClr val="16213E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0760" y="341985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微软雅黑"/>
              </a:rPr>
              <a:t>KG增强回答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694176"/>
            <a:ext cx="5577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D8E8"/>
                </a:solidFill>
                <a:latin typeface="微软雅黑"/>
              </a:rPr>
              <a:t>【KG事实】(ASML, manufactures_tool, EUV光刻) ✅
(EUV光刻, enables_process, TSMC 3nm/4nm/5nm) ✅
→ ASML垄断EUV供应；具体受益工艺节点有据可查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864608"/>
            <a:ext cx="11612880" cy="3200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4901184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</a:rPr>
              <a:t>幻觉案例：LLM声明 [Apple M3 Ultra采用Samsung 3nm GAA工艺]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184648"/>
            <a:ext cx="5577840" cy="1280160"/>
          </a:xfrm>
          <a:prstGeom prst="rect">
            <a:avLst/>
          </a:prstGeom>
          <a:solidFill>
            <a:srgbClr val="16213E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5212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74C3C"/>
                </a:solidFill>
                <a:latin typeface="微软雅黑"/>
              </a:rPr>
              <a:t>无KG基线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5486400"/>
            <a:ext cx="5349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D8E8"/>
                </a:solidFill>
                <a:latin typeface="微软雅黑"/>
              </a:rPr>
              <a:t>模型输出：M3 Ultra采用三星3nm工艺……（❌ 幻觉）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5184648"/>
            <a:ext cx="5852160" cy="1280160"/>
          </a:xfrm>
          <a:prstGeom prst="rect">
            <a:avLst/>
          </a:prstGeom>
          <a:solidFill>
            <a:srgbClr val="16213E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80760" y="5212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微软雅黑"/>
              </a:rPr>
              <a:t>KG增强回答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5486400"/>
            <a:ext cx="5577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D8E8"/>
                </a:solidFill>
                <a:latin typeface="微软雅黑"/>
              </a:rPr>
              <a:t>图谱核查：(M3 Ultra, uses_process, Samsung 3nm GAA) → 不存在
正确事实：(M3 Ultra, uses_process, TSMC 3nm(N3)) ✅
→ 幻觉检出！Apple芯片历来由TSMC代工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649224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A90D9"/>
                </a:solidFill>
                <a:latin typeface="微软雅黑"/>
              </a:rPr>
              <a:t>交互演示：打开 results/kg_full.html，在图中追踪以上三元组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总结与不足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8E8"/>
                </a:solidFill>
                <a:latin typeface="微软雅黑"/>
              </a:rPr>
              <a:t>工作总结 · 局限分析 · 未来方向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1124712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5577840" cy="5029200"/>
          </a:xfrm>
          <a:prstGeom prst="rect">
            <a:avLst/>
          </a:prstGeom>
          <a:solidFill>
            <a:srgbClr val="16213E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577840" cy="34747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271016"/>
            <a:ext cx="539495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主要工作与成果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19072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4A90D9"/>
                </a:solidFill>
                <a:latin typeface="微软雅黑"/>
              </a:rPr>
              <a:t>✅  图谱构建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微软雅黑"/>
              </a:rPr>
              <a:t>  110实体、318三元组、8类实体、16类关系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C8D8E8"/>
                </a:solidFill>
                <a:latin typeface="微软雅黑"/>
              </a:rPr>
              <a:t>  连通率95.5%，pyvis可交互可视化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E67E22"/>
                </a:solidFill>
                <a:latin typeface="微软雅黑"/>
              </a:rPr>
              <a:t>✅  知识推理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微软雅黑"/>
              </a:rPr>
              <a:t>  7条Horn规则，推导104条新三元组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C8D8E8"/>
                </a:solidFill>
                <a:latin typeface="微软雅黑"/>
              </a:rPr>
              <a:t>  双向BFS路径推理，准确率85.7%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27AE60"/>
                </a:solidFill>
                <a:latin typeface="微软雅黑"/>
              </a:rPr>
              <a:t>✅  大模型增强（GraphRAG）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微软雅黑"/>
              </a:rPr>
              <a:t>  图谱子图检索 → Prompt注入 → 对比问答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C8D8E8"/>
                </a:solidFill>
                <a:latin typeface="微软雅黑"/>
              </a:rPr>
              <a:t>  幻觉检测准确率100%（8/8声明）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C8D8E8"/>
                </a:solidFill>
                <a:latin typeface="微软雅黑"/>
              </a:rPr>
              <a:t>  检索宏P=59%，宏R=65.8%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234440"/>
            <a:ext cx="5760720" cy="2926080"/>
          </a:xfrm>
          <a:prstGeom prst="rect">
            <a:avLst/>
          </a:prstGeom>
          <a:solidFill>
            <a:srgbClr val="16213E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234440"/>
            <a:ext cx="5760720" cy="34747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6208" y="1271016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局限性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69164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F39C12"/>
                </a:solidFill>
                <a:latin typeface="微软雅黑"/>
              </a:rPr>
              <a:t>⚠  图谱覆盖不完整，5个孤立节点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F39C12"/>
                </a:solidFill>
                <a:latin typeface="微软雅黑"/>
              </a:rPr>
              <a:t>⚠  材料类实体跨类型检索召回率低（Q10: F1=0.22）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F39C12"/>
                </a:solidFill>
                <a:latin typeface="微软雅黑"/>
              </a:rPr>
              <a:t>⚠  竞争继承规则仅推导1条，关系链稀疏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F39C12"/>
                </a:solidFill>
                <a:latin typeface="微软雅黑"/>
              </a:rPr>
              <a:t>⚠  麒麟9000S代工厂信息存在争议标注不一致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F39C12"/>
                </a:solidFill>
                <a:latin typeface="微软雅黑"/>
              </a:rPr>
              <a:t>⚠  未实现TransE等表示学习推理方法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4297680"/>
            <a:ext cx="5760720" cy="1965960"/>
          </a:xfrm>
          <a:prstGeom prst="rect">
            <a:avLst/>
          </a:prstGeom>
          <a:solidFill>
            <a:srgbClr val="16213E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4297680"/>
            <a:ext cx="5760720" cy="34747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4334256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未来改进方向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4736592"/>
            <a:ext cx="5486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27AE60"/>
                </a:solidFill>
                <a:latin typeface="微软雅黑"/>
              </a:rPr>
              <a:t>→  引入语义相似度提升跨类型实体检索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7AE60"/>
                </a:solidFill>
                <a:latin typeface="微软雅黑"/>
              </a:rPr>
              <a:t>→  半自动抽取（LLM生成候选+人工审核）扩充图谱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7AE60"/>
                </a:solidFill>
                <a:latin typeface="微软雅黑"/>
              </a:rPr>
              <a:t>→  实现TransE/RotatE提升链接预测效果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7AE60"/>
                </a:solidFill>
                <a:latin typeface="微软雅黑"/>
              </a:rPr>
              <a:t>→  Text2Cypher支持结构化自然语言查询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0" y="6510528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感谢老师和同学的评阅与指正！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小组分工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8E8"/>
                </a:solidFill>
                <a:latin typeface="微软雅黑"/>
              </a:rPr>
              <a:t>三位成员各司其职，共同完成完整系统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1124712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3657600" cy="5029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</a:rPr>
              <a:t>成员 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01952"/>
            <a:ext cx="3657600" cy="548640"/>
          </a:xfrm>
          <a:prstGeom prst="rect">
            <a:avLst/>
          </a:prstGeom>
          <a:solidFill>
            <a:srgbClr val="16213E"/>
          </a:solidFill>
          <a:ln w="254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99339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90D9"/>
                </a:solidFill>
                <a:latin typeface="微软雅黑"/>
              </a:rPr>
              <a:t>数据收集与整理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560320"/>
            <a:ext cx="201168" cy="20116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569463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查阅芯片厂商官网、行业媒体、技术白皮书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218688"/>
            <a:ext cx="201168" cy="20116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322783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设计 8 类实体 / 16 类关系 Schema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877056"/>
            <a:ext cx="201168" cy="20116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388620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完成 entities.csv 与 triples.csv 建立核对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535424"/>
            <a:ext cx="201168" cy="20116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454456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争议信息置信度标注（如麒麟9000S）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193792"/>
            <a:ext cx="201168" cy="20116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5202936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参与第二章报告撰写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1280160"/>
            <a:ext cx="365760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12801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</a:rPr>
              <a:t>成员 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1901952"/>
            <a:ext cx="3657600" cy="548640"/>
          </a:xfrm>
          <a:prstGeom prst="rect">
            <a:avLst/>
          </a:prstGeom>
          <a:solidFill>
            <a:srgbClr val="16213E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07408" y="199339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7E22"/>
                </a:solidFill>
                <a:latin typeface="微软雅黑"/>
              </a:rPr>
              <a:t>核心代码实现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2560320"/>
            <a:ext cx="201168" cy="20116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53712" y="2569463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build_kg.py — 图谱构建与NetworkX存储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3218688"/>
            <a:ext cx="201168" cy="20116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53712" y="322783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reasoning.py — 规则推理与路径推理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0" y="3877056"/>
            <a:ext cx="201168" cy="20116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53712" y="388620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visualize.py — pyvis交互式可视化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80" y="4535424"/>
            <a:ext cx="201168" cy="20116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53712" y="454456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图谱质量分析 / 路径推理实验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80" y="5193792"/>
            <a:ext cx="201168" cy="20116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53712" y="5202936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参与第三章报告撰写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1280160"/>
            <a:ext cx="365760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0" y="12801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</a:rPr>
              <a:t>成员 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1901952"/>
            <a:ext cx="3657600" cy="548640"/>
          </a:xfrm>
          <a:prstGeom prst="rect">
            <a:avLst/>
          </a:prstGeom>
          <a:solidFill>
            <a:srgbClr val="16213E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39327" y="199339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7AE60"/>
                </a:solidFill>
                <a:latin typeface="微软雅黑"/>
              </a:rPr>
              <a:t>大模型增强模块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2560320"/>
            <a:ext cx="201168" cy="20116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85632" y="2569463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graph_retrieval.py — 子图检索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0" y="3218688"/>
            <a:ext cx="201168" cy="20116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85632" y="322783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llm_qa.py — GraphRAG 问答对比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0" y="3877056"/>
            <a:ext cx="201168" cy="20116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85632" y="388620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evaluate.py — 综合评估与幻觉检测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0" y="4535424"/>
            <a:ext cx="201168" cy="20116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85632" y="454456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run_all.py — 一键运行脚本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600" y="5193792"/>
            <a:ext cx="201168" cy="20116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85632" y="5202936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PPT 制作 / 第一、四、五章报告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6144768"/>
            <a:ext cx="1124712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" y="62362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8D8E8"/>
                </a:solidFill>
                <a:latin typeface="微软雅黑"/>
              </a:rPr>
              <a:t>三位成员共同参与：系统设计讨论  ·  实验结果分析  ·  报告审阅  ·  答辩准备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